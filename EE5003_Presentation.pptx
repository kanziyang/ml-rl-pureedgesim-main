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 POLICY MULTI-AGENT REINFORCEMENT LEARNING</a:t>
            </a:r>
          </a:p>
          <a:p>
            <a:r>
              <a:t>FOR 6G EDGE-CLOUD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Kan Ziyang</a:t>
            </a:r>
          </a:p>
          <a:p>
            <a:r>
              <a:t>A0326643A</a:t>
            </a:r>
          </a:p>
          <a:p>
            <a:r>
              <a:t>Supervisor: Prof. Tham Chen Khong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Task offloading in 6G edge-cloud systems must coordinate execution placement and wireless PRB reservation</a:t>
            </a:r>
          </a:p>
          <a:p>
            <a:pPr>
              <a:defRPr sz="1800"/>
            </a:pPr>
            <a:r>
              <a:t>Proposed MAPPO scheduler for joint task offloading and PRB allocation in LOCAL-EDGE-CLOUD architecture</a:t>
            </a:r>
          </a:p>
          <a:p>
            <a:pPr>
              <a:defRPr sz="1800"/>
            </a:pPr>
            <a:r>
              <a:t>MAPPO achieves 99.96% success rate vs 90.39% for best heuristic (ROUND_ROBIN)</a:t>
            </a:r>
          </a:p>
          <a:p>
            <a:pPr>
              <a:defRPr sz="1800"/>
            </a:pPr>
            <a:r>
              <a:t>PPO baseline reaches 99.94%, showing on-policy RL effectiveness</a:t>
            </a:r>
          </a:p>
          <a:p>
            <a:pPr>
              <a:defRPr sz="1800"/>
            </a:pPr>
            <a:r>
              <a:t>Adaptive PRB control is the dominant source of performance gain</a:t>
            </a:r>
          </a:p>
          <a:p>
            <a:pPr>
              <a:defRPr sz="1800"/>
            </a:pPr>
            <a:r>
              <a:t>MAPPO provides narrower reliability-oriented advantage over PPO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Can on-policy RL improve QoS and system efficiency over heuristic schedulers when destination and PRB are jointly optimized?</a:t>
            </a:r>
          </a:p>
          <a:p>
            <a:pPr>
              <a:defRPr sz="1800"/>
            </a:pPr>
            <a:r>
              <a:t>2. Is adaptive PRB allocation the dominant source of performance gain relative to other MAPPO design choices?</a:t>
            </a:r>
          </a:p>
          <a:p>
            <a:pPr>
              <a:defRPr sz="1800"/>
            </a:pPr>
            <a:r>
              <a:t>3. Does MAPPO provide meaningful advantage over shared-policy PPO baseline in deadline-sensitive reliability?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Joint task-offloading and PRB-allocation formulated as Dec-POMDP</a:t>
            </a:r>
          </a:p>
          <a:p>
            <a:pPr>
              <a:defRPr sz="1800"/>
            </a:pPr>
            <a:r>
              <a:t>MAPPO framework with CTDE: per-device actors + centralized critic</a:t>
            </a:r>
          </a:p>
          <a:p>
            <a:pPr>
              <a:defRPr sz="1800"/>
            </a:pPr>
            <a:r>
              <a:t>Shared-policy PPO baseline under same environment interface</a:t>
            </a:r>
          </a:p>
          <a:p>
            <a:pPr>
              <a:defRPr sz="1800"/>
            </a:pPr>
            <a:r>
              <a:t>Extended PureEdgeSim with PRB-aware networking and Java-Python co-simulation</a:t>
            </a:r>
          </a:p>
          <a:p>
            <a:pPr>
              <a:defRPr sz="1800"/>
            </a:pPr>
            <a:r>
              <a:t>Comprehensive evaluation against heuristic and learning baselines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Background: 6G and Mobile Edge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6G integrates intelligence, communication, and distributed computing</a:t>
            </a:r>
          </a:p>
          <a:p>
            <a:pPr>
              <a:defRPr sz="1800"/>
            </a:pPr>
            <a:r>
              <a:t>MEC reduces latency by moving computation closer to users</a:t>
            </a:r>
          </a:p>
          <a:p>
            <a:pPr>
              <a:defRPr sz="1800"/>
            </a:pPr>
            <a:r>
              <a:t>Radio-resource allocation is central to edge-cloud orchestration</a:t>
            </a:r>
          </a:p>
          <a:p>
            <a:pPr>
              <a:defRPr sz="1800"/>
            </a:pPr>
            <a:r>
              <a:t>Scheduler must jointly determine WHERE and HOW MUCH wireless resource</a:t>
            </a:r>
          </a:p>
          <a:p>
            <a:pPr>
              <a:defRPr sz="1800"/>
            </a:pPr>
            <a:r>
              <a:t>Without reasonable PRB allocation, attractive compute destination can produce poor outcome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Multi-Agent Reinforcement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RL improves through interaction rather than analytical model</a:t>
            </a:r>
          </a:p>
          <a:p>
            <a:pPr>
              <a:defRPr sz="1800"/>
            </a:pPr>
            <a:r>
              <a:t>Devices interact through shared PRBs, edge queues, and compute resources</a:t>
            </a:r>
          </a:p>
          <a:p>
            <a:pPr>
              <a:defRPr sz="1800"/>
            </a:pPr>
            <a:r>
              <a:t>One device's choice affects others - naturally multi-agent problem</a:t>
            </a:r>
          </a:p>
          <a:p>
            <a:pPr>
              <a:defRPr sz="1800"/>
            </a:pPr>
            <a:r>
              <a:t>MARL enables local decision-making while learning cooperative behavior</a:t>
            </a:r>
          </a:p>
          <a:p>
            <a:pPr>
              <a:defRPr sz="1800"/>
            </a:pPr>
            <a:r>
              <a:t>Partial observability + shared constraints + system trade-offs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Three-Tier System Architecture</a:t>
            </a:r>
          </a:p>
        </p:txBody>
      </p:sp>
      <p:pic>
        <p:nvPicPr>
          <p:cNvPr id="3" name="Picture 2" descr="network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6343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200m × 200m area with 160 devices, 4 edge data centers, 1 cloud node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Extended PureEdgeSim Architecture</a:t>
            </a:r>
          </a:p>
        </p:txBody>
      </p:sp>
      <p:pic>
        <p:nvPicPr>
          <p:cNvPr id="3" name="Picture 2" descr="extended_pureedgesim_r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8995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Four coordinated layers: simulator extensions, RL interface, runtime support, telemetry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Event-Driven Task Lifecycle</a:t>
            </a:r>
          </a:p>
        </p:txBody>
      </p:sp>
      <p:pic>
        <p:nvPicPr>
          <p:cNvPr id="3" name="Picture 2" descr="task_orchestr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929031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Decisions triggered when tasks arrive, preserving event-driven semantics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Java-Python Training Architecture</a:t>
            </a:r>
          </a:p>
        </p:txBody>
      </p:sp>
      <p:pic>
        <p:nvPicPr>
          <p:cNvPr id="3" name="Picture 2" descr="java_python_trainin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Training mode: Python launches Java, synchronous TCP JSON protocol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• Area: 200m × 200m</a:t>
            </a:r>
          </a:p>
          <a:p>
            <a:pPr>
              <a:defRPr sz="1400"/>
            </a:pPr>
            <a:r>
              <a:t>• Devices: 160 (30% smartphone, 30% sensor)</a:t>
            </a:r>
          </a:p>
          <a:p>
            <a:pPr>
              <a:defRPr sz="1400"/>
            </a:pPr>
            <a:r>
              <a:t>• Simulation time: 30 minutes</a:t>
            </a:r>
          </a:p>
          <a:p>
            <a:pPr>
              <a:defRPr sz="1400"/>
            </a:pPr>
            <a:r>
              <a:t>• Mobile speed: 1.4 m/s</a:t>
            </a:r>
          </a:p>
          <a:p>
            <a:pPr>
              <a:defRPr sz="1400"/>
            </a:pPr>
            <a:r>
              <a:t>• Edge coverage: 120m</a:t>
            </a:r>
          </a:p>
          <a:p>
            <a:pPr>
              <a:defRPr sz="1400"/>
            </a:pPr>
            <a:r>
              <a:t>• Cloud distance: 160m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• WLAN bandwidth: 5000 Mbps</a:t>
            </a:r>
          </a:p>
          <a:p>
            <a:pPr>
              <a:defRPr sz="1400"/>
            </a:pPr>
            <a:r>
              <a:t>• Total PRB blocks: 5000</a:t>
            </a:r>
          </a:p>
          <a:p>
            <a:pPr>
              <a:defRPr sz="1400"/>
            </a:pPr>
            <a:r>
              <a:t>• Max PRBs per task: 50</a:t>
            </a:r>
          </a:p>
          <a:p>
            <a:pPr>
              <a:defRPr sz="1400"/>
            </a:pPr>
            <a:r>
              <a:t>• Reference distance d₀: 20m</a:t>
            </a:r>
          </a:p>
          <a:p>
            <a:pPr>
              <a:defRPr sz="1400"/>
            </a:pPr>
            <a:r>
              <a:t>• Distance exponent α: 0.5</a:t>
            </a:r>
          </a:p>
          <a:p>
            <a:pPr>
              <a:defRPr sz="1400"/>
            </a:pPr>
            <a:r>
              <a:t>• VM policy: SPACE_SHARED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PRB-Based Communication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capacity: 5000 Mbps discretized into 5000 PRB blocks</a:t>
            </a:r>
          </a:p>
          <a:p>
            <a:pPr>
              <a:defRPr sz="1800"/>
            </a:pPr>
            <a:r>
              <a:t>Bandwidth = (BW_WLAN / PRB_total) × blocks × min(1, (d₀/max(d,d₀))^α)</a:t>
            </a:r>
          </a:p>
          <a:p>
            <a:pPr>
              <a:defRPr sz="1800"/>
            </a:pPr>
            <a:r>
              <a:t>RL algorithms: fixed PRB reservation before transmission</a:t>
            </a:r>
          </a:p>
          <a:p>
            <a:pPr>
              <a:defRPr sz="1800"/>
            </a:pPr>
            <a:r>
              <a:t>8 discrete PRB bins: {0.02, 0.05, 0.10, 0.20, 0.40, 0.60, 0.80, 1.00}</a:t>
            </a:r>
          </a:p>
          <a:p>
            <a:pPr>
              <a:defRPr sz="1800"/>
            </a:pPr>
            <a:r>
              <a:t>Non-RL algorithms: dynamic PRB allocation by simulator</a:t>
            </a:r>
          </a:p>
          <a:p>
            <a:pPr>
              <a:defRPr sz="1800"/>
            </a:pPr>
            <a:r>
              <a:t>Cloud uses fixed equivalent distance of 160m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Wireless energy: EEZC protocol with free-space and multipath models</a:t>
            </a:r>
          </a:p>
          <a:p>
            <a:pPr>
              <a:defRPr sz="1800"/>
            </a:pPr>
            <a:r>
              <a:t>E_tx = E_elec·B + E_fs·B·d² (d ≤ d₀) or E_mp·B·d⁴ (d &gt; d₀)</a:t>
            </a:r>
          </a:p>
          <a:p>
            <a:pPr>
              <a:defRPr sz="1800"/>
            </a:pPr>
            <a:r>
              <a:t>CPU energy: linear utilization model</a:t>
            </a:r>
          </a:p>
          <a:p>
            <a:pPr>
              <a:defRPr sz="1800"/>
            </a:pPr>
            <a:r>
              <a:t>ΔE_cpu = [P_idle + (P_max - P_idle)·u] / 3600 · Δt</a:t>
            </a:r>
          </a:p>
          <a:p>
            <a:pPr>
              <a:defRPr sz="1800"/>
            </a:pPr>
            <a:r>
              <a:t>Online standardization via EMA for RL reward stability</a:t>
            </a:r>
          </a:p>
          <a:p>
            <a:pPr>
              <a:defRPr sz="1800"/>
            </a:pPr>
            <a:r>
              <a:t>Total energy = CPU energy + wireless energy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Dec-POMDP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Agent set N: all task-generating devices</a:t>
            </a:r>
          </a:p>
          <a:p>
            <a:pPr>
              <a:defRPr sz="1800"/>
            </a:pPr>
            <a:r>
              <a:t>Observation o_i: task demand, device state, destination features, feasibility mask</a:t>
            </a:r>
          </a:p>
          <a:p>
            <a:pPr>
              <a:defRPr sz="1800"/>
            </a:pPr>
            <a:r>
              <a:t>Action a_i = (dest, prb): execution destination + PRB reservation level</a:t>
            </a:r>
          </a:p>
          <a:p>
            <a:pPr>
              <a:defRPr sz="1800"/>
            </a:pPr>
            <a:r>
              <a:t>Global state s: aggregated load, energy, PRB usage</a:t>
            </a:r>
          </a:p>
          <a:p>
            <a:pPr>
              <a:defRPr sz="1800"/>
            </a:pPr>
            <a:r>
              <a:t>Objective: minimize weighted cost of failures, latency, energy, PRB, fallback</a:t>
            </a:r>
          </a:p>
          <a:p>
            <a:pPr>
              <a:defRPr sz="1800"/>
            </a:pPr>
            <a:r>
              <a:t>Constraints: feasible destinations, PRB budget, deadline satisfaction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MAPPO CTDE Framework</a:t>
            </a:r>
          </a:p>
        </p:txBody>
      </p:sp>
      <p:pic>
        <p:nvPicPr>
          <p:cNvPr id="3" name="Picture 2" descr="mappo_ctde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Centralized training with decentralized execution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Observation and State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Agent observation (13D): task demand (5) + device state (4) + network context (4)</a:t>
            </a:r>
          </a:p>
          <a:p>
            <a:pPr>
              <a:defRPr sz="1800"/>
            </a:pPr>
            <a:r>
              <a:t>Destination features (11D per dest): load, capacity, delay, distance, tier indicators</a:t>
            </a:r>
          </a:p>
          <a:p>
            <a:pPr>
              <a:defRPr sz="1800"/>
            </a:pPr>
            <a:r>
              <a:t>Destination mask: suppresses infeasible destinations</a:t>
            </a:r>
          </a:p>
          <a:p>
            <a:pPr>
              <a:defRPr sz="1800"/>
            </a:pPr>
            <a:r>
              <a:t>PPO critic state (27D): agent obs + aggregated system statistics</a:t>
            </a:r>
          </a:p>
          <a:p>
            <a:pPr>
              <a:defRPr sz="1800"/>
            </a:pPr>
            <a:r>
              <a:t>MAPPO critic state (41D): base state + destination distribution + PRB distribution</a:t>
            </a:r>
          </a:p>
          <a:p>
            <a:pPr>
              <a:defRPr sz="1800"/>
            </a:pPr>
            <a:r>
              <a:t>All features normalized to [0,1] or [-2,2]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Space and Fallback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Composite action: (destination, PRB bin)</a:t>
            </a:r>
          </a:p>
          <a:p>
            <a:pPr>
              <a:defRPr sz="1800"/>
            </a:pPr>
            <a:r>
              <a:t>Destination: local(0) → edge DCs (sorted by ID) → cloud</a:t>
            </a:r>
          </a:p>
          <a:p>
            <a:pPr>
              <a:defRPr sz="1800"/>
            </a:pPr>
            <a:r>
              <a:t>PRB bins: 8 discrete levels mapping to {1, 2, 5, 10, 20, 30, 40, 50} blocks</a:t>
            </a:r>
          </a:p>
          <a:p>
            <a:pPr>
              <a:defRPr sz="1800"/>
            </a:pPr>
            <a:r>
              <a:t>Local execution forces PRB=0, log-prob and entropy zeroed</a:t>
            </a:r>
          </a:p>
          <a:p>
            <a:pPr>
              <a:defRPr sz="1800"/>
            </a:pPr>
            <a:r>
              <a:t>Destination fallback: if infeasible at execution, use shortest estimated completion</a:t>
            </a:r>
          </a:p>
          <a:p>
            <a:pPr>
              <a:defRPr sz="1800"/>
            </a:pPr>
            <a:r>
              <a:t>Fallback transitions excluded from PPO updates, penalized in reward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Reward Function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 = -5.0 if task fails</a:t>
            </a:r>
          </a:p>
          <a:p>
            <a:pPr>
              <a:defRPr sz="1800"/>
            </a:pPr>
            <a:r>
              <a:t>R = 5.0 - L̃ - 2.0Ẽ - 1.5B̃ - 1.5Z if task succeeds</a:t>
            </a:r>
          </a:p>
          <a:p>
            <a:pPr>
              <a:defRPr sz="1800"/>
            </a:pPr>
            <a:r>
              <a:t>L̃: latency ratio (realized / deadline), clipped to [0,2]</a:t>
            </a:r>
          </a:p>
          <a:p>
            <a:pPr>
              <a:defRPr sz="1800"/>
            </a:pPr>
            <a:r>
              <a:t>Ẽ: online-standardized energy via EMA (α=0.01)</a:t>
            </a:r>
          </a:p>
          <a:p>
            <a:pPr>
              <a:defRPr sz="1800"/>
            </a:pPr>
            <a:r>
              <a:t>B̃: normalized PRB cost (requested / max), clipped to [0,1]</a:t>
            </a:r>
          </a:p>
          <a:p>
            <a:pPr>
              <a:defRPr sz="1800"/>
            </a:pPr>
            <a:r>
              <a:t>Z: fallback indicator (1 if fallback triggered, 0 otherwise)</a:t>
            </a:r>
          </a:p>
          <a:p>
            <a:pPr>
              <a:defRPr sz="1800"/>
            </a:pPr>
            <a:r>
              <a:t>QoS-oriented: prioritizes success and timely completion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MAPPO 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Agent embedding: 16D learnable per device (MAPPO only)</a:t>
            </a:r>
          </a:p>
          <a:p>
            <a:pPr>
              <a:defRPr sz="1800"/>
            </a:pPr>
            <a:r>
              <a:t>Agent encoder: 2-layer MLP (29→128→128) with tanh</a:t>
            </a:r>
          </a:p>
          <a:p>
            <a:pPr>
              <a:defRPr sz="1800"/>
            </a:pPr>
            <a:r>
              <a:t>Destination encoder: 2-layer MLP (139→128→128), shared across destinations</a:t>
            </a:r>
          </a:p>
          <a:p>
            <a:pPr>
              <a:defRPr sz="1800"/>
            </a:pPr>
            <a:r>
              <a:t>Destination head: linear projection (128→1), masked softmax</a:t>
            </a:r>
          </a:p>
          <a:p>
            <a:pPr>
              <a:defRPr sz="1800"/>
            </a:pPr>
            <a:r>
              <a:t>PRB head: 2-layer MLP (256→128→8), conditioned on selected destination</a:t>
            </a:r>
          </a:p>
          <a:p>
            <a:pPr>
              <a:defRPr sz="1800"/>
            </a:pPr>
            <a:r>
              <a:t>Centralized critic: 3-layer MLP (41→256→256→1) for MAPPO, (27→256→256→1) for PPO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PPO with clipped surrogate objective, ε=0.1</a:t>
            </a:r>
          </a:p>
          <a:p>
            <a:pPr>
              <a:defRPr sz="1800"/>
            </a:pPr>
            <a:r>
              <a:t>Immediate-return design: G_t = r_t, Â_t = r_t - V(s_t)</a:t>
            </a:r>
          </a:p>
          <a:p>
            <a:pPr>
              <a:defRPr sz="1800"/>
            </a:pPr>
            <a:r>
              <a:t>Entropy annealing: 0.02 → 0.002 over 40 episodes</a:t>
            </a:r>
          </a:p>
          <a:p>
            <a:pPr>
              <a:defRPr sz="1800"/>
            </a:pPr>
            <a:r>
              <a:t>Learning rate: 3×10⁻⁴ for both actor and critic</a:t>
            </a:r>
          </a:p>
          <a:p>
            <a:pPr>
              <a:defRPr sz="1800"/>
            </a:pPr>
            <a:r>
              <a:t>4 PPO epochs per update, minibatch size 1024</a:t>
            </a:r>
          </a:p>
          <a:p>
            <a:pPr>
              <a:defRPr sz="1800"/>
            </a:pPr>
            <a:r>
              <a:t>Fallback transitions excluded from updates</a:t>
            </a:r>
          </a:p>
          <a:p>
            <a:pPr>
              <a:defRPr sz="1800"/>
            </a:pPr>
            <a:r>
              <a:t>Training: 40 episodes, ~2.53 hours total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MAPPO Training Progress</a:t>
            </a:r>
          </a:p>
        </p:txBody>
      </p:sp>
      <p:pic>
        <p:nvPicPr>
          <p:cNvPr id="3" name="Picture 2" descr="mappo_training_progress_40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2598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Success rate: 57.85% (ep1) → 99.91% (ep40), stable plateau after ep13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MAPPO Three-Seed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Seed 9001: 99.8901% success</a:t>
            </a:r>
          </a:p>
          <a:p>
            <a:pPr>
              <a:defRPr sz="1400"/>
            </a:pPr>
            <a:r>
              <a:t>Seed 9002: 99.9390% success</a:t>
            </a:r>
          </a:p>
          <a:p>
            <a:pPr>
              <a:defRPr sz="1400"/>
            </a:pPr>
            <a:r>
              <a:t>Seed 9003: 99.9421% success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Mean: 99.9237% ± 0.0238%</a:t>
            </a:r>
          </a:p>
          <a:p>
            <a:pPr>
              <a:defRPr sz="1400"/>
            </a:pPr>
            <a:r>
              <a:t>Avg total time: 4.5284s</a:t>
            </a:r>
          </a:p>
          <a:p>
            <a:pPr>
              <a:defRPr sz="1400"/>
            </a:pPr>
            <a:r>
              <a:t>Energy: 227.64 Wh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Strong cross-seed robustness</a:t>
            </a:r>
          </a:p>
          <a:p>
            <a:pPr>
              <a:defRPr sz="1400"/>
            </a:pPr>
            <a:r>
              <a:t>All three runs tightly clustered</a:t>
            </a:r>
          </a:p>
          <a:p>
            <a:pPr>
              <a:defRPr sz="1400"/>
            </a:pPr>
            <a:r>
              <a:t>No large deviations</a:t>
            </a:r>
          </a:p>
          <a:p>
            <a:pPr>
              <a:defRPr sz="1400"/>
            </a:pPr>
            <a:r>
              <a:t>Consistent generalization</a:t>
            </a:r>
          </a:p>
          <a:p>
            <a:pPr>
              <a:defRPr sz="1400"/>
            </a:pPr>
            <a:r>
              <a:t>Stable policy behavior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MAPPO Evaluation Overview (Seed 9001)</a:t>
            </a:r>
          </a:p>
        </p:txBody>
      </p:sp>
      <p:pic>
        <p:nvPicPr>
          <p:cNvPr id="3" name="Picture 2" descr="mappo_seed9001_ru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840441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51.73% cloud, 19.81% local, 28.46% edge; PRB: 72.76% use 1-block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MAPPO Runtime Resource Dynamics</a:t>
            </a:r>
          </a:p>
        </p:txBody>
      </p:sp>
      <p:pic>
        <p:nvPicPr>
          <p:cNvPr id="3" name="Picture 2" descr="mappo_eval_prb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6074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Moderate stable PRB reservation, balanced CPU utilization across tiers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Count Scalability Study</a:t>
            </a:r>
          </a:p>
        </p:txBody>
      </p:sp>
      <p:pic>
        <p:nvPicPr>
          <p:cNvPr id="3" name="Picture 2" descr="ablation_devices_train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9144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80/160/240 devices converge; 320 devices fail due to infrastructure saturation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Count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80 devices: 99.75% success</a:t>
            </a:r>
          </a:p>
          <a:p>
            <a:pPr>
              <a:defRPr sz="1400"/>
            </a:pPr>
            <a:r>
              <a:t>160 devices: 99.77% success</a:t>
            </a:r>
          </a:p>
          <a:p>
            <a:pPr>
              <a:defRPr sz="1400"/>
            </a:pPr>
            <a:r>
              <a:t>240 devices: 99.55% success</a:t>
            </a:r>
          </a:p>
          <a:p>
            <a:pPr>
              <a:defRPr sz="1400"/>
            </a:pPr>
            <a:r>
              <a:t>320 devices: 54.06% success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Graceful scaling 80→240</a:t>
            </a:r>
          </a:p>
          <a:p>
            <a:pPr>
              <a:defRPr sz="1400"/>
            </a:pPr>
            <a:r>
              <a:t>Sharp collapse at 320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Delay failures:</a:t>
            </a:r>
          </a:p>
          <a:p>
            <a:pPr>
              <a:defRPr sz="1400"/>
            </a:pPr>
            <a:r>
              <a:t>• 80: 86</a:t>
            </a:r>
          </a:p>
          <a:p>
            <a:pPr>
              <a:defRPr sz="1400"/>
            </a:pPr>
            <a:r>
              <a:t>• 160: 154</a:t>
            </a:r>
          </a:p>
          <a:p>
            <a:pPr>
              <a:defRPr sz="1400"/>
            </a:pPr>
            <a:r>
              <a:t>• 240: 451</a:t>
            </a:r>
          </a:p>
          <a:p>
            <a:pPr>
              <a:defRPr sz="1400"/>
            </a:pPr>
            <a:r>
              <a:t>• 320: 61,899 (137× jump)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Infrastructure saturation,</a:t>
            </a:r>
          </a:p>
          <a:p>
            <a:pPr>
              <a:defRPr sz="1400"/>
            </a:pPr>
            <a:r>
              <a:t>not optimization failure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Study: NoEmbedding vs FixedPRB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NoEmbedding:</a:t>
            </a:r>
          </a:p>
          <a:p>
            <a:pPr>
              <a:defRPr sz="1400"/>
            </a:pPr>
            <a:r>
              <a:t>• Success: 99.8148%</a:t>
            </a:r>
          </a:p>
          <a:p>
            <a:pPr>
              <a:defRPr sz="1400"/>
            </a:pPr>
            <a:r>
              <a:t>• Delay failures: 123</a:t>
            </a:r>
          </a:p>
          <a:p>
            <a:pPr>
              <a:defRPr sz="1400"/>
            </a:pPr>
            <a:r>
              <a:t>• Energy: 227.73 Wh</a:t>
            </a:r>
          </a:p>
          <a:p>
            <a:pPr>
              <a:defRPr sz="1400"/>
            </a:pPr>
            <a:r>
              <a:t>• Small controlled degradation</a:t>
            </a:r>
          </a:p>
          <a:p>
            <a:pPr>
              <a:defRPr sz="1400"/>
            </a:pPr>
            <a:r>
              <a:t>• Removes 16D agent embedding</a:t>
            </a:r>
          </a:p>
          <a:p>
            <a:pPr>
              <a:defRPr sz="1400"/>
            </a:pPr>
            <a:r>
              <a:t>• Slightly more aggressive PRB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FixedPRB (10 blocks):</a:t>
            </a:r>
          </a:p>
          <a:p>
            <a:pPr>
              <a:defRPr sz="1400"/>
            </a:pPr>
            <a:r>
              <a:t>• Success: 92.3822%</a:t>
            </a:r>
          </a:p>
          <a:p>
            <a:pPr>
              <a:defRPr sz="1400"/>
            </a:pPr>
            <a:r>
              <a:t>• Delay failures: 5127.67</a:t>
            </a:r>
          </a:p>
          <a:p>
            <a:pPr>
              <a:defRPr sz="1400"/>
            </a:pPr>
            <a:r>
              <a:t>• Energy: 309.26 Wh</a:t>
            </a:r>
          </a:p>
          <a:p>
            <a:pPr>
              <a:defRPr sz="1400"/>
            </a:pPr>
            <a:r>
              <a:t>• Structural failure</a:t>
            </a:r>
          </a:p>
          <a:p>
            <a:pPr>
              <a:defRPr sz="1400"/>
            </a:pPr>
            <a:r>
              <a:t>• Disables adaptive PRB</a:t>
            </a:r>
          </a:p>
          <a:p>
            <a:pPr>
              <a:defRPr sz="1400"/>
            </a:pPr>
            <a:r>
              <a:t>• Systematic mismatch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Study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Adaptive PRB control is the DOMINANT contributor to performance</a:t>
            </a:r>
          </a:p>
          <a:p>
            <a:pPr>
              <a:defRPr sz="1800"/>
            </a:pPr>
            <a:r>
              <a:t>Removing PRB adaptation: 99.92% → 92.38% success, 7.5pp drop</a:t>
            </a:r>
          </a:p>
          <a:p>
            <a:pPr>
              <a:defRPr sz="1800"/>
            </a:pPr>
            <a:r>
              <a:t>Removing agent embedding: 99.92% → 99.81% success, 0.11pp drop</a:t>
            </a:r>
          </a:p>
          <a:p>
            <a:pPr>
              <a:defRPr sz="1800"/>
            </a:pPr>
            <a:r>
              <a:t>Agent embeddings provide smaller but consistent reliability refinement</a:t>
            </a:r>
          </a:p>
          <a:p>
            <a:pPr>
              <a:defRPr sz="1800"/>
            </a:pPr>
            <a:r>
              <a:t>MAPPO value = joint offloading-PRB learning + agent conditioning</a:t>
            </a:r>
          </a:p>
          <a:p>
            <a:pPr>
              <a:defRPr sz="1800"/>
            </a:pPr>
            <a:r>
              <a:t>FixedPRB shows systematic inability to manage compute-radio contention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Baseline Comparison (Fixed Seed)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MAPPO: 99.96% | PPO: 99.94% | ROUND_ROBIN: 90.39% | CLOUD: 64.64% | LOCAL: 45.36%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Comparison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MAPPO: 99.96% success, 4.56s time, 231.26 Wh, 20 delay failures</a:t>
            </a:r>
          </a:p>
          <a:p>
            <a:pPr>
              <a:defRPr sz="1800"/>
            </a:pPr>
            <a:r>
              <a:t>PPO: 99.94% success, 4.49s time, 231.38 Wh, 36 delay failures</a:t>
            </a:r>
          </a:p>
          <a:p>
            <a:pPr>
              <a:defRPr sz="1800"/>
            </a:pPr>
            <a:r>
              <a:t>ROUND_ROBIN: 90.39% success, 5.83s time, 298.26 Wh, 6452 failures</a:t>
            </a:r>
          </a:p>
          <a:p>
            <a:pPr>
              <a:defRPr sz="1800"/>
            </a:pPr>
            <a:r>
              <a:t>RL policies: 9.58pp success gain, 1.28s faster, 67 Wh less energy</a:t>
            </a:r>
          </a:p>
          <a:p>
            <a:pPr>
              <a:defRPr sz="1800"/>
            </a:pPr>
            <a:r>
              <a:t>RL bandwidth: 4.07 Mbps vs RR: 77.26 Mbps (19× reduction)</a:t>
            </a:r>
          </a:p>
          <a:p>
            <a:pPr>
              <a:defRPr sz="1800"/>
            </a:pPr>
            <a:r>
              <a:t>Coordinated three-tier usage vs mechanical single-tier overload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Success Trajectories</a:t>
            </a:r>
          </a:p>
        </p:txBody>
      </p:sp>
      <p:pic>
        <p:nvPicPr>
          <p:cNvPr id="3" name="Picture 2" descr="mappo_runtime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6074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MAPPO/PPO: flat near 100%; ROUND_ROBIN: gradual decline to 90%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Destination Distribution</a:t>
            </a:r>
          </a:p>
        </p:txBody>
      </p:sp>
      <p:pic>
        <p:nvPicPr>
          <p:cNvPr id="3" name="Picture 2" descr="mappo_runtime_dest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6074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MAPPO/PPO: cloud-dominant three-tier; RR: larger local fraction, flatter edge split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Utilization Comparison</a:t>
            </a:r>
          </a:p>
        </p:txBody>
      </p:sp>
      <p:pic>
        <p:nvPicPr>
          <p:cNvPr id="3" name="Picture 2" descr="compare_mappo_cpu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6074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MAPPO/PPO: balanced loading; RR: edge near saturation causing queuing delays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Delay Distribution Comparison</a:t>
            </a:r>
          </a:p>
        </p:txBody>
      </p:sp>
      <p:pic>
        <p:nvPicPr>
          <p:cNvPr id="3" name="Picture 2" descr="compare_mappo_del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6074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MAPPO/PPO: narrow band well below deadline; RR: wider spread with tail violations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Failure Accumulation Over Time</a:t>
            </a:r>
          </a:p>
        </p:txBody>
      </p:sp>
      <p:pic>
        <p:nvPicPr>
          <p:cNvPr id="3" name="Picture 2" descr="compare_mappo_tasks_fai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6074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MAPPO/PPO: flat curves (20/36 failures); RR: linear accumulation (6452 failures)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MAPPO vs PPO: Detailed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Three-seed means:</a:t>
            </a:r>
          </a:p>
          <a:p>
            <a:pPr>
              <a:defRPr sz="1400"/>
            </a:pPr>
            <a:r>
              <a:t>• MAPPO: 99.9237% ± 0.0238%</a:t>
            </a:r>
          </a:p>
          <a:p>
            <a:pPr>
              <a:defRPr sz="1400"/>
            </a:pPr>
            <a:r>
              <a:t>• PPO: 99.9436% ± 0.0137%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PPO marginally stronger on:</a:t>
            </a:r>
          </a:p>
          <a:p>
            <a:pPr>
              <a:defRPr sz="1400"/>
            </a:pPr>
            <a:r>
              <a:t>• Mean success rate</a:t>
            </a:r>
          </a:p>
          <a:p>
            <a:pPr>
              <a:defRPr sz="1400"/>
            </a:pPr>
            <a:r>
              <a:t>• Variance</a:t>
            </a:r>
          </a:p>
          <a:p>
            <a:pPr>
              <a:defRPr sz="1400"/>
            </a:pPr>
            <a:r>
              <a:t>• Mean total time</a:t>
            </a:r>
          </a:p>
          <a:p>
            <a:pPr>
              <a:defRPr sz="1400"/>
            </a:pPr>
            <a:r>
              <a:t>• Mean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MAPPO advantages:</a:t>
            </a:r>
          </a:p>
          <a:p>
            <a:pPr>
              <a:defRPr sz="1400"/>
            </a:pPr>
            <a:r>
              <a:t>• Fixed-seed: 20 vs 36 failures</a:t>
            </a:r>
          </a:p>
          <a:p>
            <a:pPr>
              <a:defRPr sz="1400"/>
            </a:pPr>
            <a:r>
              <a:t>• Better deadline reliability</a:t>
            </a:r>
          </a:p>
          <a:p>
            <a:pPr>
              <a:defRPr sz="1400"/>
            </a:pPr>
            <a:r>
              <a:t>• Structurally aligned</a:t>
            </a:r>
          </a:p>
          <a:p>
            <a:pPr>
              <a:defRPr sz="1400"/>
            </a:pPr>
            <a:r>
              <a:t>• Per-device formulation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MAPPO = methodologically</a:t>
            </a:r>
          </a:p>
          <a:p>
            <a:pPr>
              <a:defRPr sz="1400"/>
            </a:pPr>
            <a:r>
              <a:t>better-matched scheduler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to Research 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Q1: Can on-policy RL improve QoS and system efficiency over heuristics?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YES - Strong positive evidence:</a:t>
            </a:r>
          </a:p>
          <a:p>
            <a:pPr>
              <a:defRPr sz="1800"/>
            </a:pPr>
            <a:r>
              <a:t>• MAPPO/PPO: 99.9%+ success vs 90.39% best heuristic</a:t>
            </a:r>
          </a:p>
          <a:p>
            <a:pPr>
              <a:defRPr sz="1800"/>
            </a:pPr>
            <a:r>
              <a:t>• 9.58pp success gain, 1.28s faster, 67 Wh less energy</a:t>
            </a:r>
          </a:p>
          <a:p>
            <a:pPr>
              <a:defRPr sz="1800"/>
            </a:pPr>
            <a:r>
              <a:t>• 19× reduction in bandwidth occupation (4.07 vs 77.26 Mbps)</a:t>
            </a:r>
          </a:p>
          <a:p>
            <a:pPr>
              <a:defRPr sz="1800"/>
            </a:pPr>
            <a:r>
              <a:t>• Joint destination-PRB control improves both QoS and efficiency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to Research 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Q2: Is adaptive PRB allocation the dominant source of gain?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YES - Ablation evidence is clear:</a:t>
            </a:r>
          </a:p>
          <a:p>
            <a:pPr>
              <a:defRPr sz="1800"/>
            </a:pPr>
            <a:r>
              <a:t>• FixedPRB: 99.92% → 92.38% success (7.5pp drop)</a:t>
            </a:r>
          </a:p>
          <a:p>
            <a:pPr>
              <a:defRPr sz="1800"/>
            </a:pPr>
            <a:r>
              <a:t>• NoEmbedding: 99.92% → 99.81% success (0.11pp drop)</a:t>
            </a:r>
          </a:p>
          <a:p>
            <a:pPr>
              <a:defRPr sz="1800"/>
            </a:pPr>
            <a:r>
              <a:t>• Adaptive PRB control is 68× more important than agent embedding</a:t>
            </a:r>
          </a:p>
          <a:p>
            <a:pPr>
              <a:defRPr sz="1800"/>
            </a:pPr>
            <a:r>
              <a:t>• Joint offloading-PRB learning is the key principle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to Research 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Q3: Does MAPPO provide meaningful advantage over PPO?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QUALIFIED YES - Narrower reliability-oriented advantage:</a:t>
            </a:r>
          </a:p>
          <a:p>
            <a:pPr>
              <a:defRPr sz="1800"/>
            </a:pPr>
            <a:r>
              <a:t>• PPO marginally stronger on aggregate three-seed means</a:t>
            </a:r>
          </a:p>
          <a:p>
            <a:pPr>
              <a:defRPr sz="1800"/>
            </a:pPr>
            <a:r>
              <a:t>• MAPPO: fewer residual deadline failures (20 vs 36 fixed-seed)</a:t>
            </a:r>
          </a:p>
          <a:p>
            <a:pPr>
              <a:defRPr sz="1800"/>
            </a:pPr>
            <a:r>
              <a:t>• NoEmbedding ablation: agent conditioning improves reliability</a:t>
            </a:r>
          </a:p>
          <a:p>
            <a:pPr>
              <a:defRPr sz="1800"/>
            </a:pPr>
            <a:r>
              <a:t>• MAPPO = structurally better-matched per-device formulation</a:t>
            </a:r>
          </a:p>
          <a:p>
            <a:pPr>
              <a:defRPr sz="1800"/>
            </a:pPr>
            <a:r>
              <a:t>• Not universally superior, but methodologically aligned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On-policy RL substantially outperforms heuristic schedulers</a:t>
            </a:r>
          </a:p>
          <a:p>
            <a:pPr>
              <a:defRPr sz="1800"/>
            </a:pPr>
            <a:r>
              <a:t>Adaptive PRB control is the dominant design factor</a:t>
            </a:r>
          </a:p>
          <a:p>
            <a:pPr>
              <a:defRPr sz="1800"/>
            </a:pPr>
            <a:r>
              <a:t>MAPPO provides reliability-oriented advantage over PPO</a:t>
            </a:r>
          </a:p>
          <a:p>
            <a:pPr>
              <a:defRPr sz="1800"/>
            </a:pPr>
            <a:r>
              <a:t>Graceful scaling 80→240 devices, collapse at 320 (infrastructure limit)</a:t>
            </a:r>
          </a:p>
          <a:p>
            <a:pPr>
              <a:defRPr sz="1800"/>
            </a:pPr>
            <a:r>
              <a:t>Joint communication-computation control is essential</a:t>
            </a:r>
          </a:p>
          <a:p>
            <a:pPr>
              <a:defRPr sz="1800"/>
            </a:pPr>
            <a:r>
              <a:t>MAPPO = methodologically aligned per-device scheduler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Simulation-based evidence, gap to real 5G/6G deployment</a:t>
            </a:r>
          </a:p>
          <a:p>
            <a:pPr>
              <a:defRPr sz="1800"/>
            </a:pPr>
            <a:r>
              <a:t>Claims tied to tested workload range and infrastructure</a:t>
            </a:r>
          </a:p>
          <a:p>
            <a:pPr>
              <a:defRPr sz="1800"/>
            </a:pPr>
            <a:r>
              <a:t>320-device saturation shows capacity boundary, not infinite scalability</a:t>
            </a:r>
          </a:p>
          <a:p>
            <a:pPr>
              <a:defRPr sz="1800"/>
            </a:pPr>
            <a:r>
              <a:t>Full-task offloading only, no partial offloading</a:t>
            </a:r>
          </a:p>
          <a:p>
            <a:pPr>
              <a:defRPr sz="1800"/>
            </a:pPr>
            <a:r>
              <a:t>Limited to LOCAL-EDGE-CLOUD, no mist layer or device-to-device</a:t>
            </a:r>
          </a:p>
          <a:p>
            <a:pPr>
              <a:defRPr sz="1800"/>
            </a:pPr>
            <a:r>
              <a:t>PPO artifacts lack per-decision trajectory exports for symmetric comparison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Map capacity boundary systematically across device density and infrastructure</a:t>
            </a:r>
          </a:p>
          <a:p>
            <a:pPr>
              <a:defRPr sz="1800"/>
            </a:pPr>
            <a:r>
              <a:t>Preserve symmetric behavioral artifacts for PPO and MAPPO</a:t>
            </a:r>
          </a:p>
          <a:p>
            <a:pPr>
              <a:defRPr sz="1800"/>
            </a:pPr>
            <a:r>
              <a:t>Extend to partial offloading with joint task partitioning</a:t>
            </a:r>
          </a:p>
          <a:p>
            <a:pPr>
              <a:defRPr sz="1800"/>
            </a:pPr>
            <a:r>
              <a:t>Expand architecture to include mist layer and neighboring-device execution</a:t>
            </a:r>
          </a:p>
          <a:p>
            <a:pPr>
              <a:defRPr sz="1800"/>
            </a:pPr>
            <a:r>
              <a:t>Reduce simulation-to-reality gap with realistic traces or hardware testbed</a:t>
            </a:r>
          </a:p>
          <a:p>
            <a:pPr>
              <a:defRPr sz="1800"/>
            </a:pPr>
            <a:r>
              <a:t>Broader robustness validation across seeds, traffic patterns, topologies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Joint task offloading and PRB allocation formulated as Dec-POMDP</a:t>
            </a:r>
          </a:p>
          <a:p>
            <a:pPr>
              <a:defRPr sz="1800"/>
            </a:pPr>
            <a:r>
              <a:t>MAPPO framework with CTDE achieves 99.96% success rate</a:t>
            </a:r>
          </a:p>
          <a:p>
            <a:pPr>
              <a:defRPr sz="1800"/>
            </a:pPr>
            <a:r>
              <a:t>Adaptive PRB control is the dominant contributor to performance</a:t>
            </a:r>
          </a:p>
          <a:p>
            <a:pPr>
              <a:defRPr sz="1800"/>
            </a:pPr>
            <a:r>
              <a:t>MAPPO provides reliability-oriented advantage, structurally aligned</a:t>
            </a:r>
          </a:p>
          <a:p>
            <a:pPr>
              <a:defRPr sz="1800"/>
            </a:pPr>
            <a:r>
              <a:t>On-policy RL is effective within tested capacity envelope</a:t>
            </a:r>
          </a:p>
          <a:p>
            <a:pPr>
              <a:defRPr sz="1800"/>
            </a:pPr>
            <a:r>
              <a:t>Extended PureEdgeSim provides end-to-end training/evaluation pipeline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